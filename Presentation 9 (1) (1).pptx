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0" r:id="rId13"/>
    <p:sldId id="271" r:id="rId14"/>
    <p:sldId id="272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CF10BB-0096-4BAC-A5C8-44E39F18E7C5}" v="43" dt="2026-10-02T04:41:58.916"/>
    <p1510:client id="{B965AA2B-CD34-408D-A3ED-19D90BC44E0D}" v="19" dt="2026-10-02T04:47:53.058"/>
    <p1510:client id="{EDE282AA-BBC7-4AFD-B58B-5BB6935CD0AC}" v="8" dt="2026-10-02T04:43:43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21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94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50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7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38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468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1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26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40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29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54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0102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443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939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81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6771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944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883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47779" y="-244790"/>
            <a:ext cx="10091261" cy="19637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 b="1">
                <a:ea typeface="+mj-lt"/>
                <a:cs typeface="+mj-lt"/>
              </a:rPr>
              <a:t> </a:t>
            </a:r>
            <a:r>
              <a:rPr lang="en-US" sz="3800" b="1">
                <a:solidFill>
                  <a:schemeClr val="tx1"/>
                </a:solidFill>
                <a:ea typeface="+mj-lt"/>
                <a:cs typeface="+mj-lt"/>
              </a:rPr>
              <a:t> </a:t>
            </a:r>
            <a:r>
              <a:rPr lang="en-US" sz="3800" b="1">
                <a:solidFill>
                  <a:schemeClr val="tx1"/>
                </a:solidFill>
                <a:latin typeface="Lato"/>
                <a:ea typeface="Lato"/>
                <a:cs typeface="Lato"/>
              </a:rPr>
              <a:t>Analytical CRM Development for a Bank</a:t>
            </a:r>
          </a:p>
          <a:p>
            <a:pPr>
              <a:lnSpc>
                <a:spcPct val="90000"/>
              </a:lnSpc>
            </a:pPr>
            <a:br>
              <a:rPr lang="en-US" sz="3800"/>
            </a:br>
            <a:endParaRPr lang="en-US" sz="380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59" y="5642582"/>
            <a:ext cx="5744375" cy="830105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tx1"/>
                </a:solidFill>
              </a:rPr>
              <a:t>Date – 14-09-2026</a:t>
            </a:r>
          </a:p>
          <a:p>
            <a:r>
              <a:rPr lang="en-US" b="1">
                <a:solidFill>
                  <a:schemeClr val="tx1"/>
                </a:solidFill>
              </a:rPr>
              <a:t>           By – </a:t>
            </a:r>
            <a:r>
              <a:rPr lang="en-US" b="1" err="1">
                <a:solidFill>
                  <a:schemeClr val="tx1"/>
                </a:solidFill>
              </a:rPr>
              <a:t>sushant</a:t>
            </a:r>
            <a:r>
              <a:rPr lang="en-US" b="1">
                <a:solidFill>
                  <a:schemeClr val="tx1"/>
                </a:solidFill>
              </a:rPr>
              <a:t> </a:t>
            </a:r>
            <a:r>
              <a:rPr lang="en-US" b="1" err="1">
                <a:solidFill>
                  <a:schemeClr val="tx1"/>
                </a:solidFill>
              </a:rPr>
              <a:t>kumar</a:t>
            </a:r>
            <a:r>
              <a:rPr lang="en-US" b="1">
                <a:solidFill>
                  <a:schemeClr val="tx1"/>
                </a:solidFill>
              </a:rPr>
              <a:t>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B4F06-2F50-BA6A-12CE-18FA9334E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658" y="1228690"/>
            <a:ext cx="6917047" cy="33903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2FCDB-6ECA-2693-00DF-56C143AE6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505" y="-27446"/>
            <a:ext cx="10062339" cy="1880694"/>
          </a:xfrm>
        </p:spPr>
        <p:txBody>
          <a:bodyPr/>
          <a:lstStyle/>
          <a:p>
            <a:r>
              <a:rPr lang="en-US"/>
              <a:t>Data schema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73F9D7-0342-C1C5-CA0F-2A721016E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984" y="786600"/>
            <a:ext cx="11744019" cy="606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394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FFB22-2ABA-A316-92A5-4B504A1A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0" y="7020"/>
            <a:ext cx="3625025" cy="537889"/>
          </a:xfr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chemeClr val="tx1"/>
                </a:solidFill>
                <a:latin typeface="Lato"/>
                <a:ea typeface="Lato"/>
                <a:cs typeface="Lato"/>
              </a:rPr>
              <a:t>Problem Statement</a:t>
            </a:r>
            <a:endParaRPr lang="en-US" sz="2400">
              <a:solidFill>
                <a:schemeClr val="tx1"/>
              </a:solidFill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DB76A-1F8D-63A3-03EE-955710A40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744" y="557673"/>
            <a:ext cx="10470540" cy="5963895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endParaRPr lang="en-US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Customer churn is a growing concern, with </a:t>
            </a:r>
            <a:r>
              <a:rPr lang="en-US" b="1">
                <a:ea typeface="+mj-lt"/>
                <a:cs typeface="+mj-lt"/>
              </a:rPr>
              <a:t>20.37%</a:t>
            </a:r>
            <a:r>
              <a:rPr lang="en-US">
                <a:ea typeface="+mj-lt"/>
                <a:cs typeface="+mj-lt"/>
              </a:rPr>
              <a:t> of the bank's 10,000 customers having exited</a:t>
            </a:r>
            <a:endParaRPr lang="en-US"/>
          </a:p>
          <a:p>
            <a:pPr>
              <a:buClr>
                <a:srgbClr val="8AD0D6"/>
              </a:buClr>
            </a:pPr>
            <a:endParaRPr lang="en-US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No unified view exists across customer demographics, transactions, and exit data</a:t>
            </a:r>
            <a:endParaRPr lang="en-US"/>
          </a:p>
          <a:p>
            <a:pPr>
              <a:buClr>
                <a:srgbClr val="8AD0D6"/>
              </a:buClr>
            </a:pPr>
            <a:endParaRPr lang="en-US" b="1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 b="1">
                <a:ea typeface="+mj-lt"/>
                <a:cs typeface="+mj-lt"/>
              </a:rPr>
              <a:t>Germany</a:t>
            </a:r>
            <a:r>
              <a:rPr lang="en-US">
                <a:ea typeface="+mj-lt"/>
                <a:cs typeface="+mj-lt"/>
              </a:rPr>
              <a:t> shows a disproportionately high churn rate (~32%) despite having the highest-value customers</a:t>
            </a:r>
            <a:endParaRPr lang="en-US"/>
          </a:p>
          <a:p>
            <a:pPr>
              <a:buClr>
                <a:srgbClr val="8AD0D6"/>
              </a:buClr>
            </a:pPr>
            <a:endParaRPr lang="en-US" b="1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 b="1">
                <a:ea typeface="+mj-lt"/>
                <a:cs typeface="+mj-lt"/>
              </a:rPr>
              <a:t>69% of exited customers</a:t>
            </a:r>
            <a:r>
              <a:rPr lang="en-US">
                <a:ea typeface="+mj-lt"/>
                <a:cs typeface="+mj-lt"/>
              </a:rPr>
              <a:t> held only a single product, pointing to weak cross-sell engagement</a:t>
            </a:r>
            <a:endParaRPr lang="en-US"/>
          </a:p>
          <a:p>
            <a:pPr>
              <a:buClr>
                <a:srgbClr val="8AD0D6"/>
              </a:buClr>
            </a:pPr>
            <a:endParaRPr lang="en-US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Inactive members churn nearly </a:t>
            </a:r>
            <a:r>
              <a:rPr lang="en-US" b="1">
                <a:ea typeface="+mj-lt"/>
                <a:cs typeface="+mj-lt"/>
              </a:rPr>
              <a:t>2x more</a:t>
            </a:r>
            <a:r>
              <a:rPr lang="en-US">
                <a:ea typeface="+mj-lt"/>
                <a:cs typeface="+mj-lt"/>
              </a:rPr>
              <a:t> than active members, but activity data has quality issues</a:t>
            </a:r>
            <a:endParaRPr lang="en-US"/>
          </a:p>
          <a:p>
            <a:pPr>
              <a:buClr>
                <a:srgbClr val="8AD0D6"/>
              </a:buClr>
            </a:pPr>
            <a:endParaRPr lang="en-US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Older and female customers churn at noticeably higher rates, with no clear reason captured in the data</a:t>
            </a:r>
            <a:endParaRPr lang="en-US"/>
          </a:p>
          <a:p>
            <a:pPr>
              <a:buClr>
                <a:srgbClr val="8AD0D6"/>
              </a:buClr>
            </a:pPr>
            <a:endParaRPr lang="en-US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The bank lacks a data-driven way to identify at-risk customers before they leave</a:t>
            </a:r>
            <a:endParaRPr lang="en-US"/>
          </a:p>
          <a:p>
            <a:pPr>
              <a:buClr>
                <a:srgbClr val="8AD0D6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570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45C67-6690-2D40-F83C-A1A2903B5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0" y="7020"/>
            <a:ext cx="3208082" cy="652908"/>
          </a:xfr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en-US" sz="2400" b="1">
                <a:solidFill>
                  <a:schemeClr val="tx1"/>
                </a:solidFill>
                <a:latin typeface="Lato"/>
                <a:ea typeface="Lato"/>
                <a:cs typeface="Lato"/>
              </a:rPr>
              <a:t>Data Description</a:t>
            </a:r>
            <a:endParaRPr lang="en-US" sz="2400" b="1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1840-B11A-CB11-441A-AE59A1315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029" y="543296"/>
            <a:ext cx="10254880" cy="630895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endParaRPr lang="en-US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Dataset covers </a:t>
            </a:r>
            <a:r>
              <a:rPr lang="en-US" b="1">
                <a:ea typeface="+mj-lt"/>
                <a:cs typeface="+mj-lt"/>
              </a:rPr>
              <a:t>10,000 bank customers</a:t>
            </a:r>
            <a:r>
              <a:rPr lang="en-US">
                <a:ea typeface="+mj-lt"/>
                <a:cs typeface="+mj-lt"/>
              </a:rPr>
              <a:t> across 3 countries: France, Germany, Spain</a:t>
            </a:r>
            <a:endParaRPr lang="en-US"/>
          </a:p>
          <a:p>
            <a:pPr>
              <a:buClr>
                <a:srgbClr val="8AD0D6"/>
              </a:buClr>
            </a:pPr>
            <a:endParaRPr lang="en-US" b="1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 b="1">
                <a:ea typeface="+mj-lt"/>
                <a:cs typeface="+mj-lt"/>
              </a:rPr>
              <a:t>7 related tables</a:t>
            </a:r>
            <a:r>
              <a:rPr lang="en-US">
                <a:ea typeface="+mj-lt"/>
                <a:cs typeface="+mj-lt"/>
              </a:rPr>
              <a:t>: </a:t>
            </a:r>
            <a:r>
              <a:rPr lang="en-US" err="1">
                <a:ea typeface="+mj-lt"/>
                <a:cs typeface="+mj-lt"/>
              </a:rPr>
              <a:t>Bank_Churn</a:t>
            </a:r>
            <a:r>
              <a:rPr lang="en-US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CustomerInfo</a:t>
            </a:r>
            <a:r>
              <a:rPr lang="en-US">
                <a:ea typeface="+mj-lt"/>
                <a:cs typeface="+mj-lt"/>
              </a:rPr>
              <a:t>, Geography, Gender, </a:t>
            </a:r>
            <a:r>
              <a:rPr lang="en-US" err="1">
                <a:ea typeface="+mj-lt"/>
                <a:cs typeface="+mj-lt"/>
              </a:rPr>
              <a:t>CreditCard</a:t>
            </a:r>
            <a:r>
              <a:rPr lang="en-US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ActiveCustomer</a:t>
            </a:r>
            <a:r>
              <a:rPr lang="en-US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ExitCustomer</a:t>
            </a:r>
            <a:endParaRPr lang="en-US"/>
          </a:p>
          <a:p>
            <a:pPr>
              <a:buClr>
                <a:srgbClr val="8AD0D6"/>
              </a:buClr>
            </a:pPr>
            <a:endParaRPr lang="en-US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Core fields include </a:t>
            </a:r>
            <a:r>
              <a:rPr lang="en-US" b="1" err="1">
                <a:ea typeface="+mj-lt"/>
                <a:cs typeface="+mj-lt"/>
              </a:rPr>
              <a:t>CreditScore</a:t>
            </a:r>
            <a:r>
              <a:rPr lang="en-US" b="1">
                <a:ea typeface="+mj-lt"/>
                <a:cs typeface="+mj-lt"/>
              </a:rPr>
              <a:t>, Balance, Tenure, NumOfProducts, </a:t>
            </a:r>
            <a:r>
              <a:rPr lang="en-US" b="1" err="1">
                <a:ea typeface="+mj-lt"/>
                <a:cs typeface="+mj-lt"/>
              </a:rPr>
              <a:t>EstimatedSalary</a:t>
            </a:r>
            <a:r>
              <a:rPr lang="en-US" b="1">
                <a:ea typeface="+mj-lt"/>
                <a:cs typeface="+mj-lt"/>
              </a:rPr>
              <a:t>, Age</a:t>
            </a:r>
            <a:endParaRPr lang="en-US"/>
          </a:p>
          <a:p>
            <a:pPr>
              <a:buClr>
                <a:srgbClr val="8AD0D6"/>
              </a:buClr>
            </a:pPr>
            <a:endParaRPr lang="en-US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Customer join dates (</a:t>
            </a:r>
            <a:r>
              <a:rPr lang="en-US" b="1">
                <a:ea typeface="+mj-lt"/>
                <a:cs typeface="+mj-lt"/>
              </a:rPr>
              <a:t>Bank DOJ</a:t>
            </a:r>
            <a:r>
              <a:rPr lang="en-US">
                <a:ea typeface="+mj-lt"/>
                <a:cs typeface="+mj-lt"/>
              </a:rPr>
              <a:t>) span </a:t>
            </a:r>
            <a:r>
              <a:rPr lang="en-US" b="1">
                <a:ea typeface="+mj-lt"/>
                <a:cs typeface="+mj-lt"/>
              </a:rPr>
              <a:t>2016–2019</a:t>
            </a:r>
            <a:endParaRPr lang="en-US"/>
          </a:p>
          <a:p>
            <a:pPr>
              <a:buClr>
                <a:srgbClr val="8AD0D6"/>
              </a:buClr>
            </a:pPr>
            <a:endParaRPr lang="en-US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Categorical lookup tables define </a:t>
            </a:r>
            <a:r>
              <a:rPr lang="en-US" b="1">
                <a:ea typeface="+mj-lt"/>
                <a:cs typeface="+mj-lt"/>
              </a:rPr>
              <a:t>credit card ownership, activity status, and exit status</a:t>
            </a:r>
            <a:endParaRPr lang="en-US"/>
          </a:p>
          <a:p>
            <a:pPr>
              <a:buClr>
                <a:srgbClr val="8AD0D6"/>
              </a:buClr>
            </a:pPr>
            <a:endParaRPr lang="en-US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Data is clean — </a:t>
            </a:r>
            <a:r>
              <a:rPr lang="en-US" b="1">
                <a:ea typeface="+mj-lt"/>
                <a:cs typeface="+mj-lt"/>
              </a:rPr>
              <a:t>no missing values</a:t>
            </a:r>
            <a:r>
              <a:rPr lang="en-US">
                <a:ea typeface="+mj-lt"/>
                <a:cs typeface="+mj-lt"/>
              </a:rPr>
              <a:t> found across any table</a:t>
            </a:r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One data quality issue identified: </a:t>
            </a:r>
            <a:r>
              <a:rPr lang="en-US" b="1">
                <a:ea typeface="+mj-lt"/>
                <a:cs typeface="+mj-lt"/>
              </a:rPr>
              <a:t>735 customers</a:t>
            </a:r>
            <a:r>
              <a:rPr lang="en-US">
                <a:ea typeface="+mj-lt"/>
                <a:cs typeface="+mj-lt"/>
              </a:rPr>
              <a:t> marked both "Exited" and "Active Member" (contradictory)</a:t>
            </a:r>
            <a:endParaRPr lang="en-US"/>
          </a:p>
          <a:p>
            <a:pPr>
              <a:buClr>
                <a:srgbClr val="8AD0D6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48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17AF2-0086-8CEE-A1F5-4A6BD0A74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0" y="7020"/>
            <a:ext cx="4746459" cy="609776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tx1"/>
                </a:solidFill>
                <a:latin typeface="Lato"/>
                <a:ea typeface="Lato"/>
                <a:cs typeface="Lato"/>
              </a:rPr>
              <a:t>Objective Key Metrics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9F424-B5FB-BF4A-DE6B-E737A6800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744" y="629560"/>
            <a:ext cx="10384276" cy="622268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endParaRPr lang="en-US" b="1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 b="1">
                <a:ea typeface="+mj-lt"/>
                <a:cs typeface="+mj-lt"/>
              </a:rPr>
              <a:t>Objective:</a:t>
            </a:r>
            <a:r>
              <a:rPr lang="en-US">
                <a:ea typeface="+mj-lt"/>
                <a:cs typeface="+mj-lt"/>
              </a:rPr>
              <a:t> identify why customers churn and flag at-risk customers early to improve retention</a:t>
            </a:r>
            <a:endParaRPr lang="en-US"/>
          </a:p>
          <a:p>
            <a:pPr>
              <a:buClr>
                <a:srgbClr val="8AD0D6"/>
              </a:buClr>
            </a:pPr>
            <a:endParaRPr lang="en-US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Track </a:t>
            </a:r>
            <a:r>
              <a:rPr lang="en-US" b="1">
                <a:ea typeface="+mj-lt"/>
                <a:cs typeface="+mj-lt"/>
              </a:rPr>
              <a:t>overall churn rate</a:t>
            </a:r>
            <a:r>
              <a:rPr lang="en-US">
                <a:ea typeface="+mj-lt"/>
                <a:cs typeface="+mj-lt"/>
              </a:rPr>
              <a:t> (currently 20.37%) as the primary success metric</a:t>
            </a:r>
            <a:endParaRPr lang="en-US"/>
          </a:p>
          <a:p>
            <a:pPr>
              <a:buClr>
                <a:srgbClr val="8AD0D6"/>
              </a:buClr>
            </a:pPr>
            <a:endParaRPr lang="en-US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Monitor </a:t>
            </a:r>
            <a:r>
              <a:rPr lang="en-US" b="1">
                <a:ea typeface="+mj-lt"/>
                <a:cs typeface="+mj-lt"/>
              </a:rPr>
              <a:t>churn rate by region, gender, age bracket, and product count</a:t>
            </a:r>
            <a:r>
              <a:rPr lang="en-US">
                <a:ea typeface="+mj-lt"/>
                <a:cs typeface="+mj-lt"/>
              </a:rPr>
              <a:t> to find high-risk segments</a:t>
            </a:r>
            <a:endParaRPr lang="en-US"/>
          </a:p>
          <a:p>
            <a:pPr>
              <a:buClr>
                <a:srgbClr val="8AD0D6"/>
              </a:buClr>
            </a:pPr>
            <a:endParaRPr lang="en-US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Measure </a:t>
            </a:r>
            <a:r>
              <a:rPr lang="en-US" b="1">
                <a:ea typeface="+mj-lt"/>
                <a:cs typeface="+mj-lt"/>
              </a:rPr>
              <a:t>active vs. inactive member ratio</a:t>
            </a:r>
            <a:r>
              <a:rPr lang="en-US">
                <a:ea typeface="+mj-lt"/>
                <a:cs typeface="+mj-lt"/>
              </a:rPr>
              <a:t> as a leading indicator of engagement</a:t>
            </a:r>
            <a:endParaRPr lang="en-US"/>
          </a:p>
          <a:p>
            <a:pPr>
              <a:buClr>
                <a:srgbClr val="8AD0D6"/>
              </a:buClr>
            </a:pPr>
            <a:endParaRPr lang="en-US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Track </a:t>
            </a:r>
            <a:r>
              <a:rPr lang="en-US" b="1">
                <a:ea typeface="+mj-lt"/>
                <a:cs typeface="+mj-lt"/>
              </a:rPr>
              <a:t>average balance and credit score</a:t>
            </a:r>
            <a:r>
              <a:rPr lang="en-US">
                <a:ea typeface="+mj-lt"/>
                <a:cs typeface="+mj-lt"/>
              </a:rPr>
              <a:t> by churn status to gauge financial risk exposure</a:t>
            </a:r>
            <a:endParaRPr lang="en-US"/>
          </a:p>
          <a:p>
            <a:pPr>
              <a:buClr>
                <a:srgbClr val="8AD0D6"/>
              </a:buClr>
            </a:pPr>
            <a:endParaRPr lang="en-US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Use a </a:t>
            </a:r>
            <a:r>
              <a:rPr lang="en-US" b="1">
                <a:ea typeface="+mj-lt"/>
                <a:cs typeface="+mj-lt"/>
              </a:rPr>
              <a:t>Churn Risk Score</a:t>
            </a:r>
            <a:r>
              <a:rPr lang="en-US">
                <a:ea typeface="+mj-lt"/>
                <a:cs typeface="+mj-lt"/>
              </a:rPr>
              <a:t> (product count + activity + credit score) to rank customers by risk</a:t>
            </a:r>
            <a:endParaRPr lang="en-US"/>
          </a:p>
          <a:p>
            <a:pPr>
              <a:buClr>
                <a:srgbClr val="8AD0D6"/>
              </a:buClr>
            </a:pPr>
            <a:endParaRPr lang="en-US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 b="1">
                <a:ea typeface="+mj-lt"/>
                <a:cs typeface="+mj-lt"/>
              </a:rPr>
              <a:t>Target:</a:t>
            </a:r>
            <a:r>
              <a:rPr lang="en-US">
                <a:ea typeface="+mj-lt"/>
                <a:cs typeface="+mj-lt"/>
              </a:rPr>
              <a:t> reduce overall churn rate below </a:t>
            </a:r>
            <a:r>
              <a:rPr lang="en-US" b="1">
                <a:ea typeface="+mj-lt"/>
                <a:cs typeface="+mj-lt"/>
              </a:rPr>
              <a:t>15%</a:t>
            </a:r>
            <a:r>
              <a:rPr lang="en-US">
                <a:ea typeface="+mj-lt"/>
                <a:cs typeface="+mj-lt"/>
              </a:rPr>
              <a:t> through targeted retention actions</a:t>
            </a:r>
            <a:endParaRPr lang="en-US"/>
          </a:p>
          <a:p>
            <a:pPr>
              <a:buClr>
                <a:srgbClr val="8AD0D6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133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62FD2-2EA0-C3DD-FA17-5646E0D56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2400">
                <a:solidFill>
                  <a:schemeClr val="bg1"/>
                </a:solidFill>
                <a:highlight>
                  <a:srgbClr val="FFFFFF"/>
                </a:highlight>
                <a:ea typeface="+mj-lt"/>
                <a:cs typeface="+mj-lt"/>
              </a:rPr>
            </a:br>
            <a:endParaRPr lang="en-US" sz="2400">
              <a:solidFill>
                <a:schemeClr val="bg1"/>
              </a:solidFill>
              <a:highlight>
                <a:srgbClr val="FFFFFF"/>
              </a:highlight>
            </a:endParaRPr>
          </a:p>
          <a:p>
            <a:endParaRPr lang="en-US" sz="2400" b="1">
              <a:highlight>
                <a:srgbClr val="FFFFFF"/>
              </a:highlight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009C7D-0099-6863-F2F0-C1EA8FE358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180" y="690927"/>
            <a:ext cx="5924009" cy="35695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E77FAA-9D00-549A-0458-B35D642A8A06}"/>
              </a:ext>
            </a:extLst>
          </p:cNvPr>
          <p:cNvSpPr txBox="1"/>
          <p:nvPr/>
        </p:nvSpPr>
        <p:spPr>
          <a:xfrm>
            <a:off x="5200" y="74334"/>
            <a:ext cx="7067235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Customer Distribution by Geography</a:t>
            </a:r>
            <a:endParaRPr lang="en-US" sz="2400"/>
          </a:p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847405-0D7C-728E-99B4-8E54C819AC21}"/>
              </a:ext>
            </a:extLst>
          </p:cNvPr>
          <p:cNvSpPr txBox="1"/>
          <p:nvPr/>
        </p:nvSpPr>
        <p:spPr>
          <a:xfrm>
            <a:off x="64851" y="4490936"/>
            <a:ext cx="10343744" cy="28315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•</a:t>
            </a:r>
            <a:r>
              <a:rPr lang="en-US" sz="2000">
                <a:ea typeface="+mn-lt"/>
                <a:cs typeface="+mn-lt"/>
              </a:rPr>
              <a:t> France leads with </a:t>
            </a:r>
            <a:r>
              <a:rPr lang="en-US" sz="2000" b="1">
                <a:ea typeface="+mn-lt"/>
                <a:cs typeface="+mn-lt"/>
              </a:rPr>
              <a:t>5.0K customers</a:t>
            </a:r>
            <a:r>
              <a:rPr lang="en-US" sz="2000">
                <a:ea typeface="+mn-lt"/>
                <a:cs typeface="+mn-lt"/>
              </a:rPr>
              <a:t>.</a:t>
            </a:r>
            <a:br>
              <a:rPr lang="en-US" sz="2000">
                <a:ea typeface="+mn-lt"/>
                <a:cs typeface="+mn-lt"/>
              </a:rPr>
            </a:br>
            <a:endParaRPr lang="en-US" sz="200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• Germany has </a:t>
            </a:r>
            <a:r>
              <a:rPr lang="en-US" sz="2000" b="1">
                <a:ea typeface="+mn-lt"/>
                <a:cs typeface="+mn-lt"/>
              </a:rPr>
              <a:t>2.5K customers</a:t>
            </a:r>
            <a:r>
              <a:rPr lang="en-US" sz="2000">
                <a:ea typeface="+mn-lt"/>
                <a:cs typeface="+mn-lt"/>
              </a:rPr>
              <a:t>.</a:t>
            </a:r>
            <a:br>
              <a:rPr lang="en-US" sz="2000">
                <a:ea typeface="+mn-lt"/>
                <a:cs typeface="+mn-lt"/>
              </a:rPr>
            </a:br>
            <a:endParaRPr lang="en-US" sz="200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• Spain also has </a:t>
            </a:r>
            <a:r>
              <a:rPr lang="en-US" sz="2000" b="1">
                <a:ea typeface="+mn-lt"/>
                <a:cs typeface="+mn-lt"/>
              </a:rPr>
              <a:t>2.5K customers</a:t>
            </a:r>
            <a:r>
              <a:rPr lang="en-US" sz="2000">
                <a:ea typeface="+mn-lt"/>
                <a:cs typeface="+mn-lt"/>
              </a:rPr>
              <a:t>.</a:t>
            </a:r>
            <a:br>
              <a:rPr lang="en-US" sz="2000">
                <a:ea typeface="+mn-lt"/>
                <a:cs typeface="+mn-lt"/>
              </a:rPr>
            </a:br>
            <a:endParaRPr lang="en-US" sz="200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• France has </a:t>
            </a:r>
            <a:r>
              <a:rPr lang="en-US" sz="2000" b="1">
                <a:ea typeface="+mn-lt"/>
                <a:cs typeface="+mn-lt"/>
              </a:rPr>
              <a:t>twice as many customers</a:t>
            </a:r>
            <a:r>
              <a:rPr lang="en-US" sz="2000">
                <a:ea typeface="+mn-lt"/>
                <a:cs typeface="+mn-lt"/>
              </a:rPr>
              <a:t> as Germany or Spain.</a:t>
            </a:r>
            <a:endParaRPr lang="en-US" sz="2000"/>
          </a:p>
          <a:p>
            <a:br>
              <a:rPr lang="en-US"/>
            </a:b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69903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B199A7-2925-A00F-145D-C660781AF0EE}"/>
              </a:ext>
            </a:extLst>
          </p:cNvPr>
          <p:cNvSpPr txBox="1"/>
          <p:nvPr/>
        </p:nvSpPr>
        <p:spPr>
          <a:xfrm>
            <a:off x="0" y="7189"/>
            <a:ext cx="60960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Font typeface="Arial"/>
              <a:buChar char="•"/>
            </a:pPr>
            <a:r>
              <a:rPr lang="en-US" sz="2400" b="1" i="0">
                <a:latin typeface="-apple-system-body"/>
                <a:ea typeface="-apple-system-body"/>
                <a:cs typeface="-apple-system-body"/>
              </a:rPr>
              <a:t>Average Balance by Geography</a:t>
            </a:r>
            <a:endParaRPr lang="en-US"/>
          </a:p>
          <a:p>
            <a:pPr algn="ctr"/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06807-43C3-1EFA-8023-35D8DC989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71" y="567967"/>
            <a:ext cx="5679594" cy="31570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B67B00-D5E4-87FF-D212-AE30D148240F}"/>
              </a:ext>
            </a:extLst>
          </p:cNvPr>
          <p:cNvSpPr txBox="1"/>
          <p:nvPr/>
        </p:nvSpPr>
        <p:spPr>
          <a:xfrm>
            <a:off x="0" y="3960962"/>
            <a:ext cx="9949131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endParaRPr lang="en-US">
              <a:latin typeface="-apple-system-body"/>
              <a:ea typeface="-apple-system-body"/>
              <a:cs typeface="-apple-system-body"/>
            </a:endParaRPr>
          </a:p>
          <a:p>
            <a:pPr>
              <a:buFont typeface="Arial"/>
              <a:buChar char="•"/>
            </a:pPr>
            <a:r>
              <a:rPr lang="en-US" sz="2000" b="1">
                <a:latin typeface="-apple-system-body"/>
                <a:ea typeface="-apple-system-body"/>
                <a:cs typeface="-apple-system-body"/>
              </a:rPr>
              <a:t>   </a:t>
            </a:r>
            <a:r>
              <a:rPr lang="en-US" sz="2000" b="1" i="0">
                <a:latin typeface="-apple-system-body"/>
                <a:ea typeface="-apple-system-body"/>
                <a:cs typeface="-apple-system-body"/>
              </a:rPr>
              <a:t>Germany</a:t>
            </a:r>
            <a:r>
              <a:rPr lang="en-US" sz="2000" b="0" i="0">
                <a:latin typeface="-apple-system-body"/>
                <a:ea typeface="-apple-system-body"/>
                <a:cs typeface="-apple-system-body"/>
              </a:rPr>
              <a:t> has the highest average balance at </a:t>
            </a:r>
            <a:r>
              <a:rPr lang="en-US" sz="2000" b="1" i="0">
                <a:latin typeface="-apple-system-body"/>
                <a:ea typeface="-apple-system-body"/>
                <a:cs typeface="-apple-system-body"/>
              </a:rPr>
              <a:t>120K</a:t>
            </a:r>
            <a:r>
              <a:rPr lang="en-US" sz="2000" b="0" i="0">
                <a:latin typeface="-apple-system-body"/>
                <a:ea typeface="-apple-system-body"/>
                <a:cs typeface="-apple-system-body"/>
              </a:rPr>
              <a:t>.</a:t>
            </a:r>
            <a:endParaRPr lang="en-US" sz="2000"/>
          </a:p>
          <a:p>
            <a:pPr>
              <a:buFont typeface="Arial"/>
              <a:buChar char="•"/>
            </a:pPr>
            <a:endParaRPr lang="en-US" sz="2000">
              <a:latin typeface="-apple-system-body"/>
              <a:ea typeface="-apple-system-body"/>
              <a:cs typeface="-apple-system-body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000" b="0" i="0">
                <a:latin typeface="-apple-system-body"/>
                <a:ea typeface="-apple-system-body"/>
                <a:cs typeface="-apple-system-body"/>
              </a:rPr>
              <a:t> </a:t>
            </a:r>
            <a:r>
              <a:rPr lang="en-US" sz="2000" b="1" i="0">
                <a:latin typeface="-apple-system-body"/>
                <a:ea typeface="-apple-system-body"/>
                <a:cs typeface="-apple-system-body"/>
              </a:rPr>
              <a:t>France</a:t>
            </a:r>
            <a:r>
              <a:rPr lang="en-US" sz="2000" b="0" i="0">
                <a:latin typeface="-apple-system-body"/>
                <a:ea typeface="-apple-system-body"/>
                <a:cs typeface="-apple-system-body"/>
              </a:rPr>
              <a:t> has an average balance of </a:t>
            </a:r>
            <a:r>
              <a:rPr lang="en-US" sz="2000" b="1" i="0">
                <a:latin typeface="-apple-system-body"/>
                <a:ea typeface="-apple-system-body"/>
                <a:cs typeface="-apple-system-body"/>
              </a:rPr>
              <a:t>62K</a:t>
            </a:r>
            <a:r>
              <a:rPr lang="en-US" sz="2000" b="0" i="0">
                <a:latin typeface="-apple-system-body"/>
                <a:ea typeface="-apple-system-body"/>
                <a:cs typeface="-apple-system-body"/>
              </a:rPr>
              <a:t>.</a:t>
            </a:r>
            <a:endParaRPr lang="en-US"/>
          </a:p>
          <a:p>
            <a:pPr>
              <a:buFont typeface="Arial"/>
              <a:buChar char="•"/>
            </a:pPr>
            <a:r>
              <a:rPr lang="en-US" sz="2000">
                <a:latin typeface="-apple-system-body"/>
                <a:ea typeface="-apple-system-body"/>
                <a:cs typeface="-apple-system-body"/>
              </a:rPr>
              <a:t>  </a:t>
            </a:r>
            <a:r>
              <a:rPr lang="en-US" sz="2000" b="0" i="0">
                <a:latin typeface="-apple-system-body"/>
                <a:ea typeface="-apple-system-body"/>
                <a:cs typeface="-apple-system-body"/>
              </a:rPr>
              <a:t> </a:t>
            </a:r>
            <a:endParaRPr lang="en-US" sz="2000">
              <a:latin typeface="-apple-system-body"/>
              <a:ea typeface="-apple-system-body"/>
              <a:cs typeface="-apple-system-body"/>
            </a:endParaRPr>
          </a:p>
          <a:p>
            <a:pPr>
              <a:buFont typeface="Arial"/>
              <a:buChar char="•"/>
            </a:pPr>
            <a:r>
              <a:rPr lang="en-US" sz="2000">
                <a:latin typeface="-apple-system-body"/>
                <a:ea typeface="-apple-system-body"/>
                <a:cs typeface="-apple-system-body"/>
              </a:rPr>
              <a:t>    </a:t>
            </a:r>
            <a:r>
              <a:rPr lang="en-US" sz="2000" b="1" i="0">
                <a:latin typeface="-apple-system-body"/>
                <a:ea typeface="-apple-system-body"/>
                <a:cs typeface="-apple-system-body"/>
              </a:rPr>
              <a:t>Spain</a:t>
            </a:r>
            <a:r>
              <a:rPr lang="en-US" sz="2000" b="0" i="0">
                <a:latin typeface="-apple-system-body"/>
                <a:ea typeface="-apple-system-body"/>
                <a:cs typeface="-apple-system-body"/>
              </a:rPr>
              <a:t> also has an average balance of </a:t>
            </a:r>
            <a:r>
              <a:rPr lang="en-US" sz="2000" b="1" i="0">
                <a:latin typeface="-apple-system-body"/>
                <a:ea typeface="-apple-system-body"/>
                <a:cs typeface="-apple-system-body"/>
              </a:rPr>
              <a:t>62K</a:t>
            </a:r>
            <a:r>
              <a:rPr lang="en-US" sz="2000" b="0" i="0">
                <a:latin typeface="-apple-system-body"/>
                <a:ea typeface="-apple-system-body"/>
                <a:cs typeface="-apple-system-body"/>
              </a:rPr>
              <a:t>.</a:t>
            </a:r>
            <a:endParaRPr lang="en-US"/>
          </a:p>
          <a:p>
            <a:pPr>
              <a:buFont typeface="Arial"/>
              <a:buChar char="•"/>
            </a:pPr>
            <a:endParaRPr lang="en-US" sz="2000">
              <a:latin typeface="-apple-system-body"/>
              <a:ea typeface="-apple-system-body"/>
              <a:cs typeface="-apple-system-body"/>
            </a:endParaRPr>
          </a:p>
          <a:p>
            <a:pPr>
              <a:buFont typeface="Arial"/>
              <a:buChar char="•"/>
            </a:pPr>
            <a:r>
              <a:rPr lang="en-US" sz="2000">
                <a:latin typeface="-apple-system-body"/>
                <a:ea typeface="-apple-system-body"/>
                <a:cs typeface="-apple-system-body"/>
              </a:rPr>
              <a:t>    </a:t>
            </a:r>
            <a:r>
              <a:rPr lang="en-US" sz="2000" b="0" i="0">
                <a:latin typeface="-apple-system-body"/>
                <a:ea typeface="-apple-system-body"/>
                <a:cs typeface="-apple-system-body"/>
              </a:rPr>
              <a:t>Germany’s average balance is </a:t>
            </a:r>
            <a:r>
              <a:rPr lang="en-US" sz="2000" b="1" i="0">
                <a:latin typeface="-apple-system-body"/>
                <a:ea typeface="-apple-system-body"/>
                <a:cs typeface="-apple-system-body"/>
              </a:rPr>
              <a:t>nearly twice</a:t>
            </a:r>
            <a:r>
              <a:rPr lang="en-US" sz="2000" b="0" i="0">
                <a:latin typeface="-apple-system-body"/>
                <a:ea typeface="-apple-system-body"/>
                <a:cs typeface="-apple-system-body"/>
              </a:rPr>
              <a:t> that of</a:t>
            </a:r>
            <a:r>
              <a:rPr lang="en-US" sz="2000">
                <a:latin typeface="-apple-system-body"/>
                <a:ea typeface="-apple-system-body"/>
                <a:cs typeface="-apple-system-body"/>
              </a:rPr>
              <a:t>  France</a:t>
            </a:r>
            <a:r>
              <a:rPr lang="en-US" sz="2000" b="0" i="0">
                <a:latin typeface="-apple-system-body"/>
                <a:ea typeface="-apple-system-body"/>
                <a:cs typeface="-apple-system-body"/>
              </a:rPr>
              <a:t> and Spain.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68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32ED12-D85B-63E5-2C74-8BD16AE08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0" y="549035"/>
            <a:ext cx="5971455" cy="37902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FDF599-3D3F-29EC-0E31-65210F8C8BFF}"/>
              </a:ext>
            </a:extLst>
          </p:cNvPr>
          <p:cNvSpPr txBox="1"/>
          <p:nvPr/>
        </p:nvSpPr>
        <p:spPr>
          <a:xfrm>
            <a:off x="0" y="7189"/>
            <a:ext cx="826698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Font typeface="Arial"/>
              <a:buChar char="•"/>
            </a:pPr>
            <a:r>
              <a:rPr lang="en-US" sz="2400" b="1" i="0">
                <a:latin typeface="-apple-system-body"/>
                <a:ea typeface="-apple-system-body"/>
                <a:cs typeface="-apple-system-body"/>
              </a:rPr>
              <a:t>Customer Distribution by Gender and Exit Status</a:t>
            </a:r>
            <a:endParaRPr lang="en-US" sz="2400"/>
          </a:p>
          <a:p>
            <a:pPr algn="ctr"/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987B9-5973-7A5A-BF10-0B27259E04D8}"/>
              </a:ext>
            </a:extLst>
          </p:cNvPr>
          <p:cNvSpPr txBox="1"/>
          <p:nvPr/>
        </p:nvSpPr>
        <p:spPr>
          <a:xfrm>
            <a:off x="0" y="4349151"/>
            <a:ext cx="6915508" cy="28315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endParaRPr lang="en-US" b="1">
              <a:latin typeface="-apple-system-body"/>
              <a:ea typeface="-apple-system-body"/>
              <a:cs typeface="-apple-system-body"/>
            </a:endParaRPr>
          </a:p>
          <a:p>
            <a:pPr>
              <a:buFont typeface=""/>
              <a:buChar char="•"/>
            </a:pPr>
            <a:r>
              <a:rPr lang="en-US" sz="2000" b="1">
                <a:latin typeface="-apple-system-body"/>
                <a:ea typeface="-apple-system-body"/>
                <a:cs typeface="-apple-system-body"/>
              </a:rPr>
              <a:t> </a:t>
            </a:r>
            <a:r>
              <a:rPr lang="en-US" sz="2000" b="1" i="0">
                <a:latin typeface="-apple-system-body"/>
                <a:ea typeface="-apple-system-body"/>
                <a:cs typeface="-apple-system-body"/>
              </a:rPr>
              <a:t>Male:</a:t>
            </a:r>
            <a:r>
              <a:rPr lang="en-US" sz="2000" b="0" i="0">
                <a:latin typeface="-apple-system-body"/>
                <a:ea typeface="-apple-system-body"/>
                <a:cs typeface="-apple-system-body"/>
              </a:rPr>
              <a:t> 4.6K retained vs. 0.9K exited.</a:t>
            </a:r>
            <a:endParaRPr lang="en-US" sz="2000"/>
          </a:p>
          <a:p>
            <a:pPr>
              <a:buFont typeface=""/>
              <a:buChar char="•"/>
            </a:pPr>
            <a:endParaRPr lang="en-US" sz="2000" b="1">
              <a:latin typeface="-apple-system-body"/>
              <a:ea typeface="-apple-system-body"/>
              <a:cs typeface="-apple-system-body"/>
            </a:endParaRPr>
          </a:p>
          <a:p>
            <a:pPr>
              <a:buFont typeface=""/>
              <a:buChar char="•"/>
            </a:pPr>
            <a:r>
              <a:rPr lang="en-US" sz="2000" b="1">
                <a:latin typeface="-apple-system-body"/>
                <a:ea typeface="-apple-system-body"/>
                <a:cs typeface="-apple-system-body"/>
              </a:rPr>
              <a:t> </a:t>
            </a:r>
            <a:r>
              <a:rPr lang="en-US" sz="2000" b="1" i="0">
                <a:latin typeface="-apple-system-body"/>
                <a:ea typeface="-apple-system-body"/>
                <a:cs typeface="-apple-system-body"/>
              </a:rPr>
              <a:t>Female:</a:t>
            </a:r>
            <a:r>
              <a:rPr lang="en-US" sz="2000" b="0" i="0">
                <a:latin typeface="-apple-system-body"/>
                <a:ea typeface="-apple-system-body"/>
                <a:cs typeface="-apple-system-body"/>
              </a:rPr>
              <a:t> 3.4K retained vs. 1.1K exited.</a:t>
            </a:r>
            <a:endParaRPr lang="en-US" sz="2000"/>
          </a:p>
          <a:p>
            <a:pPr>
              <a:buFont typeface=""/>
              <a:buChar char="•"/>
            </a:pPr>
            <a:endParaRPr lang="en-US" sz="2000" b="1">
              <a:latin typeface="-apple-system-body"/>
              <a:ea typeface="-apple-system-body"/>
              <a:cs typeface="-apple-system-body"/>
            </a:endParaRPr>
          </a:p>
          <a:p>
            <a:pPr>
              <a:buFont typeface=""/>
              <a:buChar char="•"/>
            </a:pPr>
            <a:r>
              <a:rPr lang="en-US" sz="2000" b="1">
                <a:latin typeface="-apple-system-body"/>
                <a:ea typeface="-apple-system-body"/>
                <a:cs typeface="-apple-system-body"/>
              </a:rPr>
              <a:t> </a:t>
            </a:r>
            <a:r>
              <a:rPr lang="en-US" sz="2000" b="1" i="0">
                <a:latin typeface="-apple-system-body"/>
                <a:ea typeface="-apple-system-body"/>
                <a:cs typeface="-apple-system-body"/>
              </a:rPr>
              <a:t>Male customers</a:t>
            </a:r>
            <a:r>
              <a:rPr lang="en-US" sz="2000" b="0" i="0">
                <a:latin typeface="-apple-system-body"/>
                <a:ea typeface="-apple-system-body"/>
                <a:cs typeface="-apple-system-body"/>
              </a:rPr>
              <a:t> have higher retention overall.</a:t>
            </a:r>
            <a:endParaRPr lang="en-US" sz="2000"/>
          </a:p>
          <a:p>
            <a:pPr>
              <a:buFont typeface=""/>
              <a:buChar char="•"/>
            </a:pPr>
            <a:endParaRPr lang="en-US" sz="2000" b="1">
              <a:latin typeface="-apple-system-body"/>
              <a:ea typeface="-apple-system-body"/>
              <a:cs typeface="-apple-system-body"/>
            </a:endParaRPr>
          </a:p>
          <a:p>
            <a:pPr>
              <a:buFont typeface=""/>
              <a:buChar char="•"/>
            </a:pPr>
            <a:r>
              <a:rPr lang="en-US" sz="2000" b="1">
                <a:latin typeface="-apple-system-body"/>
                <a:ea typeface="-apple-system-body"/>
                <a:cs typeface="-apple-system-body"/>
              </a:rPr>
              <a:t> </a:t>
            </a:r>
            <a:r>
              <a:rPr lang="en-US" sz="2000" b="1" i="0">
                <a:latin typeface="-apple-system-body"/>
                <a:ea typeface="-apple-system-body"/>
                <a:cs typeface="-apple-system-body"/>
              </a:rPr>
              <a:t>Female customers</a:t>
            </a:r>
            <a:r>
              <a:rPr lang="en-US" sz="2000" b="0" i="0">
                <a:latin typeface="-apple-system-body"/>
                <a:ea typeface="-apple-system-body"/>
                <a:cs typeface="-apple-system-body"/>
              </a:rPr>
              <a:t> have a slightly higher exit count.</a:t>
            </a:r>
            <a:endParaRPr lang="en-US" sz="2000"/>
          </a:p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75718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0692E9-96A8-0867-6BB5-FDCD06961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28" y="448844"/>
            <a:ext cx="6312019" cy="36024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21F4181-4C8C-53AE-4C47-80285B7294A1}"/>
              </a:ext>
            </a:extLst>
          </p:cNvPr>
          <p:cNvSpPr txBox="1"/>
          <p:nvPr/>
        </p:nvSpPr>
        <p:spPr>
          <a:xfrm>
            <a:off x="7953" y="-4894"/>
            <a:ext cx="58852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Customer Growth Trend (2016–2019)</a:t>
            </a:r>
            <a:endParaRPr lang="en-US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8DA555-582A-B560-3E85-DBAB487AA1C8}"/>
              </a:ext>
            </a:extLst>
          </p:cNvPr>
          <p:cNvSpPr txBox="1"/>
          <p:nvPr/>
        </p:nvSpPr>
        <p:spPr>
          <a:xfrm>
            <a:off x="2141" y="3992011"/>
            <a:ext cx="732817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Customer count increased every year. 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2016 recorded </a:t>
            </a:r>
            <a:r>
              <a:rPr lang="en-US" sz="2000" b="1">
                <a:ea typeface="+mn-lt"/>
                <a:cs typeface="+mn-lt"/>
              </a:rPr>
              <a:t>1,951 customers</a:t>
            </a:r>
            <a:r>
              <a:rPr lang="en-US" sz="2000">
                <a:ea typeface="+mn-lt"/>
                <a:cs typeface="+mn-lt"/>
              </a:rPr>
              <a:t>. 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Customers grew to </a:t>
            </a:r>
            <a:r>
              <a:rPr lang="en-US" sz="2000" b="1">
                <a:ea typeface="+mn-lt"/>
                <a:cs typeface="+mn-lt"/>
              </a:rPr>
              <a:t>2,593 in 2018</a:t>
            </a:r>
            <a:r>
              <a:rPr lang="en-US" sz="2000">
                <a:ea typeface="+mn-lt"/>
                <a:cs typeface="+mn-lt"/>
              </a:rPr>
              <a:t>. 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2019 reached the highest count at </a:t>
            </a:r>
            <a:r>
              <a:rPr lang="en-US" sz="2000" b="1">
                <a:ea typeface="+mn-lt"/>
                <a:cs typeface="+mn-lt"/>
              </a:rPr>
              <a:t>3,313 customers</a:t>
            </a:r>
            <a:r>
              <a:rPr lang="en-US" sz="2000">
                <a:ea typeface="+mn-lt"/>
                <a:cs typeface="+mn-lt"/>
              </a:rPr>
              <a:t>. </a:t>
            </a:r>
            <a:endParaRPr lang="en-US" sz="2000"/>
          </a:p>
          <a:p>
            <a:pPr algn="l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83470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C7C158-657A-F46B-208F-41829A184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01" y="467983"/>
            <a:ext cx="6360183" cy="35785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2423F8-F329-9165-F2C2-CF2A9F74CD7E}"/>
              </a:ext>
            </a:extLst>
          </p:cNvPr>
          <p:cNvSpPr txBox="1"/>
          <p:nvPr/>
        </p:nvSpPr>
        <p:spPr>
          <a:xfrm>
            <a:off x="3671" y="3671"/>
            <a:ext cx="647470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Customer Distribution by Geography</a:t>
            </a:r>
            <a:endParaRPr lang="en-US" sz="24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1C9A54-3CCC-A336-BA0C-89D225CB37E5}"/>
              </a:ext>
            </a:extLst>
          </p:cNvPr>
          <p:cNvSpPr txBox="1"/>
          <p:nvPr/>
        </p:nvSpPr>
        <p:spPr>
          <a:xfrm>
            <a:off x="-6730" y="3906359"/>
            <a:ext cx="8479276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Customers are distributed across multiple geographic regions. 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France, Germany, and Spain</a:t>
            </a:r>
            <a:r>
              <a:rPr lang="en-US" sz="2000">
                <a:ea typeface="+mn-lt"/>
                <a:cs typeface="+mn-lt"/>
              </a:rPr>
              <a:t> are represented in the dataset. 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The map highlights the </a:t>
            </a:r>
            <a:r>
              <a:rPr lang="en-US" sz="2000" b="1">
                <a:ea typeface="+mn-lt"/>
                <a:cs typeface="+mn-lt"/>
              </a:rPr>
              <a:t>geographic spread of customers</a:t>
            </a:r>
            <a:r>
              <a:rPr lang="en-US" sz="2000">
                <a:ea typeface="+mn-lt"/>
                <a:cs typeface="+mn-lt"/>
              </a:rPr>
              <a:t>. 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Customer locations are concentrated across the </a:t>
            </a:r>
            <a:r>
              <a:rPr lang="en-US" sz="2000" b="1">
                <a:ea typeface="+mn-lt"/>
                <a:cs typeface="+mn-lt"/>
              </a:rPr>
              <a:t>United States map area</a:t>
            </a:r>
            <a:r>
              <a:rPr lang="en-US" sz="2000">
                <a:ea typeface="+mn-lt"/>
                <a:cs typeface="+mn-lt"/>
              </a:rPr>
              <a:t>. </a:t>
            </a:r>
            <a:endParaRPr lang="en-US" sz="2000"/>
          </a:p>
          <a:p>
            <a:pPr algn="l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845106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623E0A-EFD5-757F-8496-987756DBF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28" y="458458"/>
            <a:ext cx="6887113" cy="38419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208EFF-820E-DDB1-846C-B2A1BCECF390}"/>
              </a:ext>
            </a:extLst>
          </p:cNvPr>
          <p:cNvSpPr txBox="1"/>
          <p:nvPr/>
        </p:nvSpPr>
        <p:spPr>
          <a:xfrm>
            <a:off x="917" y="3976"/>
            <a:ext cx="67380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Customer Retention vs Exit Analysi</a:t>
            </a:r>
            <a:r>
              <a:rPr lang="en-US">
                <a:ea typeface="+mn-lt"/>
                <a:cs typeface="+mn-lt"/>
              </a:rPr>
              <a:t>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542519-85D2-5BC5-7B66-16D1B1380DD6}"/>
              </a:ext>
            </a:extLst>
          </p:cNvPr>
          <p:cNvSpPr txBox="1"/>
          <p:nvPr/>
        </p:nvSpPr>
        <p:spPr>
          <a:xfrm>
            <a:off x="124195" y="4302195"/>
            <a:ext cx="7992893" cy="39395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endParaRPr lang="en-US" b="1"/>
          </a:p>
          <a:p>
            <a:pPr>
              <a:buFont typeface=""/>
              <a:buChar char="•"/>
            </a:pPr>
            <a:r>
              <a:rPr lang="en-US" sz="2000" b="1"/>
              <a:t>79.63% of customers were retained.</a:t>
            </a:r>
            <a:r>
              <a:rPr lang="en-US" sz="2000"/>
              <a:t> </a:t>
            </a:r>
          </a:p>
          <a:p>
            <a:pPr>
              <a:buFont typeface=""/>
              <a:buChar char="•"/>
            </a:pPr>
            <a:endParaRPr lang="en-US" sz="2000" b="1"/>
          </a:p>
          <a:p>
            <a:pPr>
              <a:buFont typeface=""/>
              <a:buChar char="•"/>
            </a:pPr>
            <a:r>
              <a:rPr lang="en-US" sz="2000" b="1"/>
              <a:t>20.37% of customers exited.</a:t>
            </a:r>
            <a:r>
              <a:rPr lang="en-US" sz="2000"/>
              <a:t> </a:t>
            </a:r>
          </a:p>
          <a:p>
            <a:pPr>
              <a:buFont typeface=""/>
              <a:buChar char="•"/>
            </a:pPr>
            <a:endParaRPr lang="en-US" sz="2000"/>
          </a:p>
          <a:p>
            <a:pPr>
              <a:buFont typeface=""/>
              <a:buChar char="•"/>
            </a:pPr>
            <a:r>
              <a:rPr lang="en-US" sz="2000"/>
              <a:t>Retention is significantly higher than customer exit. </a:t>
            </a:r>
          </a:p>
          <a:p>
            <a:pPr>
              <a:buFont typeface=""/>
              <a:buChar char="•"/>
            </a:pPr>
            <a:endParaRPr lang="en-US" sz="2000"/>
          </a:p>
          <a:p>
            <a:pPr>
              <a:buFont typeface=""/>
              <a:buChar char="•"/>
            </a:pPr>
            <a:r>
              <a:rPr lang="en-US" sz="2000"/>
              <a:t>The chart shows a </a:t>
            </a:r>
            <a:r>
              <a:rPr lang="en-US" sz="2000" b="1"/>
              <a:t>strong customer retention rate</a:t>
            </a:r>
            <a:r>
              <a:rPr lang="en-US" sz="2000"/>
              <a:t>. </a:t>
            </a:r>
          </a:p>
          <a:p>
            <a:endParaRPr lang="en-US" sz="2000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32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29320-8318-4BC7-C54B-2ED9578A6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67" y="3868"/>
            <a:ext cx="8026860" cy="1066503"/>
          </a:xfrm>
        </p:spPr>
        <p:txBody>
          <a:bodyPr/>
          <a:lstStyle/>
          <a:p>
            <a:r>
              <a:rPr lang="en-US" sz="2800">
                <a:ea typeface="+mj-lt"/>
                <a:cs typeface="+mj-lt"/>
              </a:rPr>
              <a:t>Customer Demographics Dashboard</a:t>
            </a:r>
            <a:endParaRPr lang="en-US" sz="28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3C12E1-CC63-5DE3-1DEA-70850EC583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855" y="539356"/>
            <a:ext cx="12090797" cy="631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577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3A6A1-B618-3A24-AB77-C4447988C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67" y="3869"/>
            <a:ext cx="9404723" cy="628092"/>
          </a:xfrm>
        </p:spPr>
        <p:txBody>
          <a:bodyPr/>
          <a:lstStyle/>
          <a:p>
            <a:r>
              <a:rPr lang="en-US" sz="2800">
                <a:ea typeface="+mj-lt"/>
                <a:cs typeface="+mj-lt"/>
              </a:rPr>
              <a:t>Product Engagement Dashboard</a:t>
            </a:r>
            <a:endParaRPr lang="en-US" sz="28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86A241-6BA0-C31E-03D1-4F875AEBA4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518" y="643740"/>
            <a:ext cx="11828101" cy="607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825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A2B19-297B-F47B-4449-AD3DD90F5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2" y="3870"/>
            <a:ext cx="10041462" cy="628091"/>
          </a:xfrm>
        </p:spPr>
        <p:txBody>
          <a:bodyPr/>
          <a:lstStyle/>
          <a:p>
            <a:r>
              <a:rPr lang="en-US" sz="2800" dirty="0">
                <a:ea typeface="+mj-lt"/>
                <a:cs typeface="+mj-lt"/>
              </a:rPr>
              <a:t>Churn Analysis </a:t>
            </a:r>
            <a:r>
              <a:rPr lang="en-US" sz="2800" dirty="0" err="1">
                <a:ea typeface="+mj-lt"/>
                <a:cs typeface="+mj-lt"/>
              </a:rPr>
              <a:t>Dashbord</a:t>
            </a:r>
            <a:endParaRPr lang="en-US" sz="2800" dirty="0" err="1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474E93-40F9-C532-662E-5AEF6DE953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912" y="643741"/>
            <a:ext cx="12042437" cy="619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849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47442E-B126-DD45-FDA9-3551ECBC6421}"/>
              </a:ext>
            </a:extLst>
          </p:cNvPr>
          <p:cNvSpPr txBox="1"/>
          <p:nvPr/>
        </p:nvSpPr>
        <p:spPr>
          <a:xfrm>
            <a:off x="81063" y="32425"/>
            <a:ext cx="364787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ea typeface="+mn-lt"/>
                <a:cs typeface="+mn-lt"/>
              </a:rPr>
              <a:t>Conclusion</a:t>
            </a:r>
            <a:endParaRPr lang="en-US" sz="24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5A5CBB-E723-179C-69E4-8C32131335C9}"/>
              </a:ext>
            </a:extLst>
          </p:cNvPr>
          <p:cNvSpPr txBox="1"/>
          <p:nvPr/>
        </p:nvSpPr>
        <p:spPr>
          <a:xfrm>
            <a:off x="145914" y="551233"/>
            <a:ext cx="10230255" cy="59400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Overall churn stands at </a:t>
            </a:r>
            <a:r>
              <a:rPr lang="en-US" sz="2000" b="1">
                <a:ea typeface="+mn-lt"/>
                <a:cs typeface="+mn-lt"/>
              </a:rPr>
              <a:t>20.37%</a:t>
            </a:r>
            <a:r>
              <a:rPr lang="en-US" sz="2000">
                <a:ea typeface="+mn-lt"/>
                <a:cs typeface="+mn-lt"/>
              </a:rPr>
              <a:t>, remaining stable at 19–22% across all four years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Germany is the biggest risk</a:t>
            </a:r>
            <a:r>
              <a:rPr lang="en-US" sz="2000">
                <a:ea typeface="+mn-lt"/>
                <a:cs typeface="+mn-lt"/>
              </a:rPr>
              <a:t> — highest churn (~32%) combined with the highest average balances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Single-product customers are the largest churn group</a:t>
            </a:r>
            <a:r>
              <a:rPr lang="en-US" sz="2000">
                <a:ea typeface="+mn-lt"/>
                <a:cs typeface="+mn-lt"/>
              </a:rPr>
              <a:t>, making up 69% of all exits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Inactive members churn ~2x more</a:t>
            </a:r>
            <a:r>
              <a:rPr lang="en-US" sz="2000">
                <a:ea typeface="+mn-lt"/>
                <a:cs typeface="+mn-lt"/>
              </a:rPr>
              <a:t> than active members (26.85% vs 14.27%)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Salary, credit score, and tenure showed </a:t>
            </a:r>
            <a:r>
              <a:rPr lang="en-US" sz="2000" b="1">
                <a:ea typeface="+mn-lt"/>
                <a:cs typeface="+mn-lt"/>
              </a:rPr>
              <a:t>weak or no predictive power</a:t>
            </a:r>
            <a:r>
              <a:rPr lang="en-US" sz="2000">
                <a:ea typeface="+mn-lt"/>
                <a:cs typeface="+mn-lt"/>
              </a:rPr>
              <a:t> for churn</a:t>
            </a:r>
          </a:p>
          <a:p>
            <a:pPr marL="285750" indent="-285750">
              <a:buFont typeface="Arial"/>
              <a:buChar char="•"/>
            </a:pP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Key recommendation: </a:t>
            </a:r>
            <a:r>
              <a:rPr lang="en-US" sz="2000" b="1">
                <a:ea typeface="+mn-lt"/>
                <a:cs typeface="+mn-lt"/>
              </a:rPr>
              <a:t>cross-sell a second product</a:t>
            </a:r>
            <a:r>
              <a:rPr lang="en-US" sz="2000">
                <a:ea typeface="+mn-lt"/>
                <a:cs typeface="+mn-lt"/>
              </a:rPr>
              <a:t> and launch re-engagement campaigns for inactive customers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Fix the </a:t>
            </a:r>
            <a:r>
              <a:rPr lang="en-US" sz="2000" b="1">
                <a:ea typeface="+mn-lt"/>
                <a:cs typeface="+mn-lt"/>
              </a:rPr>
              <a:t>735-record data quality issue</a:t>
            </a:r>
            <a:r>
              <a:rPr lang="en-US" sz="2000">
                <a:ea typeface="+mn-lt"/>
                <a:cs typeface="+mn-lt"/>
              </a:rPr>
              <a:t> before building any predictive churn model</a:t>
            </a:r>
            <a:endParaRPr lang="en-US" sz="2000"/>
          </a:p>
          <a:p>
            <a:pPr algn="l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097881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E6A234-E2DA-A4C3-CC3A-35A1D80A5943}"/>
              </a:ext>
            </a:extLst>
          </p:cNvPr>
          <p:cNvSpPr txBox="1"/>
          <p:nvPr/>
        </p:nvSpPr>
        <p:spPr>
          <a:xfrm>
            <a:off x="5506" y="1835"/>
            <a:ext cx="475034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Key Recommendations</a:t>
            </a:r>
            <a:endParaRPr lang="en-US" sz="24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0B4952-52FF-0EB3-1DCB-2C77EA21C28C}"/>
              </a:ext>
            </a:extLst>
          </p:cNvPr>
          <p:cNvSpPr txBox="1"/>
          <p:nvPr/>
        </p:nvSpPr>
        <p:spPr>
          <a:xfrm>
            <a:off x="64851" y="518808"/>
            <a:ext cx="10327531" cy="62170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 sz="20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Cross-sell aggressively to single-product customers</a:t>
            </a:r>
            <a:r>
              <a:rPr lang="en-US" sz="2000">
                <a:ea typeface="+mn-lt"/>
                <a:cs typeface="+mn-lt"/>
              </a:rPr>
              <a:t> — the single biggest retention lever available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Launch re-engagement campaigns</a:t>
            </a:r>
            <a:r>
              <a:rPr lang="en-US" sz="2000">
                <a:ea typeface="+mn-lt"/>
                <a:cs typeface="+mn-lt"/>
              </a:rPr>
              <a:t> targeting inactive members before they churn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Prioritize Germany</a:t>
            </a:r>
            <a:r>
              <a:rPr lang="en-US" sz="2000">
                <a:ea typeface="+mn-lt"/>
                <a:cs typeface="+mn-lt"/>
              </a:rPr>
              <a:t> with a dedicated retention strategy — investigate local service, pricing, or competitor issues</a:t>
            </a:r>
          </a:p>
          <a:p>
            <a:pPr marL="285750" indent="-285750">
              <a:buFont typeface="Arial"/>
              <a:buChar char="•"/>
            </a:pPr>
            <a:endParaRPr lang="en-US" sz="2000" b="1"/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Deploy the Churn Risk Score</a:t>
            </a:r>
            <a:r>
              <a:rPr lang="en-US" sz="2000">
                <a:ea typeface="+mn-lt"/>
                <a:cs typeface="+mn-lt"/>
              </a:rPr>
              <a:t> to flag high-risk customers for proactive outreach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Build tailored offers</a:t>
            </a:r>
            <a:r>
              <a:rPr lang="en-US" sz="2000">
                <a:ea typeface="+mn-lt"/>
                <a:cs typeface="+mn-lt"/>
              </a:rPr>
              <a:t> for older (45+) and female customers, both showing consistently higher churn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Correct the 735 mislabeled records</a:t>
            </a:r>
            <a:r>
              <a:rPr lang="en-US" sz="2000">
                <a:ea typeface="+mn-lt"/>
                <a:cs typeface="+mn-lt"/>
              </a:rPr>
              <a:t> before any predictive modeling work begins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Track churn monthly</a:t>
            </a:r>
            <a:r>
              <a:rPr lang="en-US" sz="2000">
                <a:ea typeface="+mn-lt"/>
                <a:cs typeface="+mn-lt"/>
              </a:rPr>
              <a:t> through the dashboard rather than reviewing it retrospectively</a:t>
            </a:r>
            <a:endParaRPr lang="en-US" sz="2000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819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Ion</vt:lpstr>
      <vt:lpstr>  Analytical CRM Development for a Bank  </vt:lpstr>
      <vt:lpstr>Data schema</vt:lpstr>
      <vt:lpstr>Problem Statement </vt:lpstr>
      <vt:lpstr>Data Description</vt:lpstr>
      <vt:lpstr>Objective Key Metrics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Customer Demographics Dashboard</vt:lpstr>
      <vt:lpstr>Product Engagement Dashboard</vt:lpstr>
      <vt:lpstr>Churn Analysis Dashbord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23</cp:revision>
  <dcterms:created xsi:type="dcterms:W3CDTF">2026-09-14T05:05:51Z</dcterms:created>
  <dcterms:modified xsi:type="dcterms:W3CDTF">2026-10-02T04:49:26Z</dcterms:modified>
</cp:coreProperties>
</file>